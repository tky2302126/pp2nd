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561" autoAdjust="0"/>
  </p:normalViewPr>
  <p:slideViewPr>
    <p:cSldViewPr snapToGrid="0">
      <p:cViewPr varScale="1">
        <p:scale>
          <a:sx n="95" d="100"/>
          <a:sy n="95" d="100"/>
        </p:scale>
        <p:origin x="115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9814EE-C4E0-4938-9D3E-ADA871AC874F}" type="datetimeFigureOut">
              <a:rPr kumimoji="1" lang="ja-JP" altLang="en-US" smtClean="0"/>
              <a:t>2025/3/13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205DD9-3563-485A-AA16-8C3066DBC6E0}" type="slidenum">
              <a:rPr kumimoji="1" lang="ja-JP" altLang="en-US" smtClean="0"/>
              <a:t>‹#›</a:t>
            </a:fld>
            <a:endParaRPr kumimoji="1" lang="ja-JP" altLang="en-US"/>
          </a:p>
        </p:txBody>
      </p:sp>
    </p:spTree>
    <p:extLst>
      <p:ext uri="{BB962C8B-B14F-4D97-AF65-F5344CB8AC3E}">
        <p14:creationId xmlns:p14="http://schemas.microsoft.com/office/powerpoint/2010/main" val="323749157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東京情報クリエイター工学院専門学校</a:t>
            </a:r>
          </a:p>
          <a:p>
            <a:r>
              <a:rPr kumimoji="1" lang="ja-JP" altLang="en-US" dirty="0"/>
              <a:t>　　ゲーム制作</a:t>
            </a:r>
            <a:r>
              <a:rPr kumimoji="1" lang="en-US" altLang="ja-JP" dirty="0"/>
              <a:t>3</a:t>
            </a:r>
            <a:r>
              <a:rPr kumimoji="1" lang="ja-JP" altLang="en-US" dirty="0"/>
              <a:t>年制コースの鈴木宏明です。</a:t>
            </a:r>
          </a:p>
          <a:p>
            <a:r>
              <a:rPr kumimoji="1" lang="ja-JP" altLang="en-US" dirty="0"/>
              <a:t>　　進級制作プレゼンテーションを始めます。</a:t>
            </a:r>
          </a:p>
          <a:p>
            <a:r>
              <a:rPr kumimoji="1" lang="ja-JP" altLang="en-US" dirty="0"/>
              <a:t>　　よろしくお願いします。</a:t>
            </a:r>
            <a:endParaRPr kumimoji="1" lang="en-US" altLang="ja-JP" dirty="0"/>
          </a:p>
          <a:p>
            <a:endParaRPr kumimoji="1" lang="en-US" altLang="ja-JP" dirty="0"/>
          </a:p>
          <a:p>
            <a:r>
              <a:rPr kumimoji="1" lang="ja-JP" altLang="en-US" dirty="0"/>
              <a:t>今年度私が作ったのは、「石を置くヒト」というタワーディフェンスゲームになります。</a:t>
            </a:r>
            <a:endParaRPr kumimoji="1" lang="en-US" altLang="ja-JP" dirty="0"/>
          </a:p>
          <a:p>
            <a:r>
              <a:rPr kumimoji="1" lang="ja-JP" altLang="en-US" dirty="0"/>
              <a:t>コンセプトは障害物で敵の進路を操作し、拠点を守る３ｄタワーディフェンスゲームです。</a:t>
            </a:r>
            <a:endParaRPr kumimoji="1" lang="en-US" altLang="ja-JP" dirty="0"/>
          </a:p>
          <a:p>
            <a:endParaRPr kumimoji="1" lang="en-US" altLang="ja-JP" dirty="0"/>
          </a:p>
          <a:p>
            <a:r>
              <a:rPr kumimoji="1" lang="ja-JP" altLang="en-US" dirty="0"/>
              <a:t>モチーフにしたのは</a:t>
            </a:r>
            <a:r>
              <a:rPr kumimoji="1" lang="en-US" altLang="ja-JP" dirty="0" err="1"/>
              <a:t>Yostar</a:t>
            </a:r>
            <a:r>
              <a:rPr kumimoji="1" lang="ja-JP" altLang="en-US" dirty="0"/>
              <a:t>のハイパーグリフが開発・運営している「アークナイツ」というゲームになります。</a:t>
            </a:r>
            <a:endParaRPr kumimoji="1" lang="en-US" altLang="ja-JP" dirty="0"/>
          </a:p>
          <a:p>
            <a:r>
              <a:rPr kumimoji="1" lang="ja-JP" altLang="en-US" dirty="0"/>
              <a:t>画面の</a:t>
            </a:r>
            <a:r>
              <a:rPr kumimoji="1" lang="en-US" altLang="ja-JP" dirty="0"/>
              <a:t>UI</a:t>
            </a:r>
            <a:r>
              <a:rPr kumimoji="1" lang="ja-JP" altLang="en-US" dirty="0"/>
              <a:t>配置や、仕様については大いに参考にさせてもらいました。</a:t>
            </a:r>
          </a:p>
        </p:txBody>
      </p:sp>
      <p:sp>
        <p:nvSpPr>
          <p:cNvPr id="4" name="スライド番号プレースホルダー 3"/>
          <p:cNvSpPr>
            <a:spLocks noGrp="1"/>
          </p:cNvSpPr>
          <p:nvPr>
            <p:ph type="sldNum" sz="quarter" idx="5"/>
          </p:nvPr>
        </p:nvSpPr>
        <p:spPr/>
        <p:txBody>
          <a:bodyPr/>
          <a:lstStyle/>
          <a:p>
            <a:fld id="{11205DD9-3563-485A-AA16-8C3066DBC6E0}" type="slidenum">
              <a:rPr kumimoji="1" lang="ja-JP" altLang="en-US" smtClean="0"/>
              <a:t>1</a:t>
            </a:fld>
            <a:endParaRPr kumimoji="1" lang="ja-JP" altLang="en-US"/>
          </a:p>
        </p:txBody>
      </p:sp>
    </p:spTree>
    <p:extLst>
      <p:ext uri="{BB962C8B-B14F-4D97-AF65-F5344CB8AC3E}">
        <p14:creationId xmlns:p14="http://schemas.microsoft.com/office/powerpoint/2010/main" val="1784482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続いて、制作背景ですが、</a:t>
            </a:r>
            <a:endParaRPr kumimoji="1" lang="en-US" altLang="ja-JP" dirty="0"/>
          </a:p>
          <a:p>
            <a:r>
              <a:rPr kumimoji="1" lang="ja-JP" altLang="en-US" dirty="0"/>
              <a:t>進級制作にあたり、去年と同ジャンルである３ｄアクションを作るという選択肢もあったのですが、</a:t>
            </a:r>
            <a:endParaRPr kumimoji="1" lang="en-US" altLang="ja-JP" dirty="0"/>
          </a:p>
          <a:p>
            <a:r>
              <a:rPr kumimoji="1" lang="ja-JP" altLang="en-US" dirty="0"/>
              <a:t>操作量が多くなり、わかりずらい、複雑なゲームで、遊びづらかったのではないかと思いました。</a:t>
            </a:r>
            <a:endParaRPr kumimoji="1" lang="en-US" altLang="ja-JP" dirty="0"/>
          </a:p>
          <a:p>
            <a:r>
              <a:rPr kumimoji="1" lang="ja-JP" altLang="en-US" dirty="0"/>
              <a:t>今回は、操作が単純で遊びやすいゲームを作ろうと決めました。</a:t>
            </a:r>
            <a:endParaRPr kumimoji="1" lang="en-US" altLang="ja-JP" dirty="0"/>
          </a:p>
          <a:p>
            <a:r>
              <a:rPr kumimoji="1" lang="ja-JP" altLang="en-US" dirty="0"/>
              <a:t>また、普段から遊んでいるアークナイツをモチーフにタワーディフェンスを作りたいと考え、</a:t>
            </a:r>
            <a:endParaRPr kumimoji="1" lang="en-US" altLang="ja-JP" dirty="0"/>
          </a:p>
          <a:p>
            <a:r>
              <a:rPr kumimoji="1" lang="ja-JP" altLang="en-US" dirty="0"/>
              <a:t>今回の作品を作ることにしました。</a:t>
            </a:r>
            <a:endParaRPr kumimoji="1" lang="en-US" altLang="ja-JP" dirty="0"/>
          </a:p>
          <a:p>
            <a:r>
              <a:rPr kumimoji="1" lang="ja-JP" altLang="en-US" dirty="0"/>
              <a:t>ゲームの概要としては、直接敵を倒すのではなく、拠点を守るというタワーディフェンスの原点に</a:t>
            </a:r>
            <a:endParaRPr kumimoji="1" lang="en-US" altLang="ja-JP" dirty="0"/>
          </a:p>
          <a:p>
            <a:r>
              <a:rPr kumimoji="1" lang="ja-JP" altLang="en-US" dirty="0"/>
              <a:t>帰るゲーム性と、時間やゲーム内のリソースなどの管理が求められるゲームにしたいと考えました。</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11205DD9-3563-485A-AA16-8C3066DBC6E0}" type="slidenum">
              <a:rPr kumimoji="1" lang="ja-JP" altLang="en-US" smtClean="0"/>
              <a:t>2</a:t>
            </a:fld>
            <a:endParaRPr kumimoji="1" lang="ja-JP" altLang="en-US"/>
          </a:p>
        </p:txBody>
      </p:sp>
    </p:spTree>
    <p:extLst>
      <p:ext uri="{BB962C8B-B14F-4D97-AF65-F5344CB8AC3E}">
        <p14:creationId xmlns:p14="http://schemas.microsoft.com/office/powerpoint/2010/main" val="31019126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注力したところは遊びやすくする点に加えて、</a:t>
            </a:r>
            <a:r>
              <a:rPr kumimoji="1" lang="en-US" altLang="ja-JP" dirty="0"/>
              <a:t>2</a:t>
            </a:r>
            <a:r>
              <a:rPr kumimoji="1" lang="ja-JP" altLang="en-US" dirty="0"/>
              <a:t>点あり、</a:t>
            </a:r>
            <a:endParaRPr kumimoji="1" lang="en-US" altLang="ja-JP" dirty="0"/>
          </a:p>
          <a:p>
            <a:r>
              <a:rPr kumimoji="1" lang="ja-JP" altLang="en-US" dirty="0"/>
              <a:t>まずはゲームのメインのロジックである経路探索のメソッドです。</a:t>
            </a:r>
            <a:endParaRPr kumimoji="1" lang="en-US" altLang="ja-JP" dirty="0"/>
          </a:p>
          <a:p>
            <a:r>
              <a:rPr kumimoji="1" lang="ja-JP" altLang="en-US" dirty="0"/>
              <a:t>今回はタワーディフェンスでメジャーなメソッドである</a:t>
            </a:r>
            <a:r>
              <a:rPr kumimoji="1" lang="en-US" altLang="ja-JP" dirty="0"/>
              <a:t>A</a:t>
            </a:r>
            <a:r>
              <a:rPr kumimoji="1" lang="ja-JP" altLang="en-US" dirty="0"/>
              <a:t>スター法を採用しました。</a:t>
            </a:r>
            <a:endParaRPr kumimoji="1" lang="en-US" altLang="ja-JP" dirty="0"/>
          </a:p>
          <a:p>
            <a:r>
              <a:rPr kumimoji="1" lang="ja-JP" altLang="en-US" dirty="0"/>
              <a:t>経路探索は幅優先探索、深さ優先探索、ダイクストラ法、と順番に習得し、</a:t>
            </a:r>
            <a:endParaRPr kumimoji="1" lang="en-US" altLang="ja-JP" dirty="0"/>
          </a:p>
          <a:p>
            <a:r>
              <a:rPr kumimoji="1" lang="ja-JP" altLang="en-US" dirty="0"/>
              <a:t>最終的に</a:t>
            </a:r>
            <a:r>
              <a:rPr kumimoji="1" lang="en-US" altLang="ja-JP" dirty="0"/>
              <a:t>A</a:t>
            </a:r>
            <a:r>
              <a:rPr kumimoji="1" lang="ja-JP" altLang="en-US" dirty="0"/>
              <a:t>スター法を習得しました。</a:t>
            </a:r>
            <a:endParaRPr kumimoji="1" lang="en-US" altLang="ja-JP" dirty="0"/>
          </a:p>
          <a:p>
            <a:r>
              <a:rPr kumimoji="1" lang="ja-JP" altLang="en-US" dirty="0"/>
              <a:t>画像のように、迷路を探索するときにマスを順番に探索する際、</a:t>
            </a:r>
            <a:endParaRPr kumimoji="1" lang="en-US" altLang="ja-JP" dirty="0"/>
          </a:p>
          <a:p>
            <a:r>
              <a:rPr kumimoji="1" lang="ja-JP" altLang="en-US" dirty="0"/>
              <a:t>移動量に加えて推量値を加えることで探索の効率を上げるメソッドになります。</a:t>
            </a:r>
            <a:endParaRPr kumimoji="1" lang="en-US" altLang="ja-JP" dirty="0"/>
          </a:p>
          <a:p>
            <a:r>
              <a:rPr kumimoji="1" lang="ja-JP" altLang="en-US" dirty="0"/>
              <a:t>次にＵＭＬクラス図を使ったクラス間の依存関係の整理、カプセル化用のデザインの検討を行いました。</a:t>
            </a:r>
            <a:endParaRPr kumimoji="1" lang="en-US" altLang="ja-JP" dirty="0"/>
          </a:p>
          <a:p>
            <a:r>
              <a:rPr kumimoji="1" lang="en-US" altLang="ja-JP" dirty="0" err="1"/>
              <a:t>Drawio</a:t>
            </a:r>
            <a:r>
              <a:rPr kumimoji="1" lang="ja-JP" altLang="en-US" dirty="0"/>
              <a:t>を使い行いましたが、今回のような個人制作においてはあまり必要なかったと感じました。</a:t>
            </a:r>
          </a:p>
        </p:txBody>
      </p:sp>
      <p:sp>
        <p:nvSpPr>
          <p:cNvPr id="4" name="スライド番号プレースホルダー 3"/>
          <p:cNvSpPr>
            <a:spLocks noGrp="1"/>
          </p:cNvSpPr>
          <p:nvPr>
            <p:ph type="sldNum" sz="quarter" idx="5"/>
          </p:nvPr>
        </p:nvSpPr>
        <p:spPr/>
        <p:txBody>
          <a:bodyPr/>
          <a:lstStyle/>
          <a:p>
            <a:fld id="{11205DD9-3563-485A-AA16-8C3066DBC6E0}" type="slidenum">
              <a:rPr kumimoji="1" lang="ja-JP" altLang="en-US" smtClean="0"/>
              <a:t>3</a:t>
            </a:fld>
            <a:endParaRPr kumimoji="1" lang="ja-JP" altLang="en-US"/>
          </a:p>
        </p:txBody>
      </p:sp>
    </p:spTree>
    <p:extLst>
      <p:ext uri="{BB962C8B-B14F-4D97-AF65-F5344CB8AC3E}">
        <p14:creationId xmlns:p14="http://schemas.microsoft.com/office/powerpoint/2010/main" val="1585927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最後に今後の展開についてですが、</a:t>
            </a:r>
            <a:endParaRPr kumimoji="1" lang="en-US" altLang="ja-JP" dirty="0"/>
          </a:p>
          <a:p>
            <a:r>
              <a:rPr kumimoji="1" lang="ja-JP" altLang="en-US" dirty="0"/>
              <a:t>ブラッシュアップする点は２つあり、</a:t>
            </a:r>
            <a:endParaRPr kumimoji="1" lang="en-US" altLang="ja-JP" dirty="0"/>
          </a:p>
          <a:p>
            <a:r>
              <a:rPr kumimoji="1" lang="ja-JP" altLang="en-US" dirty="0"/>
              <a:t>１つ目は障害物にぶつかったときの仕様です。</a:t>
            </a:r>
            <a:endParaRPr kumimoji="1" lang="en-US" altLang="ja-JP" dirty="0"/>
          </a:p>
          <a:p>
            <a:r>
              <a:rPr kumimoji="1" lang="ja-JP" altLang="en-US" dirty="0"/>
              <a:t>現状、一定時間後に破壊する仕様になっていますが、</a:t>
            </a:r>
            <a:endParaRPr kumimoji="1" lang="en-US" altLang="ja-JP" dirty="0"/>
          </a:p>
          <a:p>
            <a:r>
              <a:rPr kumimoji="1" lang="ja-JP" altLang="en-US" dirty="0"/>
              <a:t>耐久値の概念を加えてダメージを与える仕様にしたいと思っています。</a:t>
            </a:r>
            <a:endParaRPr kumimoji="1" lang="en-US" altLang="ja-JP" dirty="0"/>
          </a:p>
          <a:p>
            <a:r>
              <a:rPr kumimoji="1" lang="ja-JP" altLang="en-US" dirty="0"/>
              <a:t>２つ目は経路探索メソッドの最適化です。</a:t>
            </a:r>
            <a:endParaRPr kumimoji="1" lang="en-US" altLang="ja-JP" dirty="0"/>
          </a:p>
          <a:p>
            <a:r>
              <a:rPr kumimoji="1" lang="ja-JP" altLang="en-US" dirty="0"/>
              <a:t>具体的には、ノードマップを管理し、変更部分のみ再計算を行うメソッドにしたいと思っています。</a:t>
            </a:r>
            <a:endParaRPr kumimoji="1" lang="en-US" altLang="ja-JP" dirty="0"/>
          </a:p>
          <a:p>
            <a:endParaRPr kumimoji="1" lang="en-US" altLang="ja-JP" dirty="0"/>
          </a:p>
          <a:p>
            <a:r>
              <a:rPr kumimoji="1" lang="ja-JP" altLang="en-US" dirty="0"/>
              <a:t>これで発表を終わります。ご清聴ありがとうございました。</a:t>
            </a:r>
          </a:p>
        </p:txBody>
      </p:sp>
      <p:sp>
        <p:nvSpPr>
          <p:cNvPr id="4" name="スライド番号プレースホルダー 3"/>
          <p:cNvSpPr>
            <a:spLocks noGrp="1"/>
          </p:cNvSpPr>
          <p:nvPr>
            <p:ph type="sldNum" sz="quarter" idx="5"/>
          </p:nvPr>
        </p:nvSpPr>
        <p:spPr/>
        <p:txBody>
          <a:bodyPr/>
          <a:lstStyle/>
          <a:p>
            <a:fld id="{11205DD9-3563-485A-AA16-8C3066DBC6E0}" type="slidenum">
              <a:rPr kumimoji="1" lang="ja-JP" altLang="en-US" smtClean="0"/>
              <a:t>4</a:t>
            </a:fld>
            <a:endParaRPr kumimoji="1" lang="ja-JP" altLang="en-US"/>
          </a:p>
        </p:txBody>
      </p:sp>
    </p:spTree>
    <p:extLst>
      <p:ext uri="{BB962C8B-B14F-4D97-AF65-F5344CB8AC3E}">
        <p14:creationId xmlns:p14="http://schemas.microsoft.com/office/powerpoint/2010/main" val="1677593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ja-JP" altLang="en-US"/>
              <a:t>マスター タイトルの書式設定</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37B0CA02-6CF3-4D1C-8E89-51EC2BCE5B2D}" type="datetimeFigureOut">
              <a:rPr kumimoji="1" lang="ja-JP" altLang="en-US" smtClean="0"/>
              <a:t>2025/3/13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A73679D-6CCD-4E1E-8289-64185947636B}" type="slidenum">
              <a:rPr kumimoji="1" lang="ja-JP" altLang="en-US" smtClean="0"/>
              <a:t>‹#›</a:t>
            </a:fld>
            <a:endParaRPr kumimoji="1" lang="ja-JP" altLang="en-US"/>
          </a:p>
        </p:txBody>
      </p:sp>
    </p:spTree>
    <p:extLst>
      <p:ext uri="{BB962C8B-B14F-4D97-AF65-F5344CB8AC3E}">
        <p14:creationId xmlns:p14="http://schemas.microsoft.com/office/powerpoint/2010/main" val="10299327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3"/>
          <p:cNvSpPr>
            <a:spLocks noGrp="1"/>
          </p:cNvSpPr>
          <p:nvPr>
            <p:ph type="dt" sz="half" idx="10"/>
          </p:nvPr>
        </p:nvSpPr>
        <p:spPr/>
        <p:txBody>
          <a:bodyPr/>
          <a:lstStyle/>
          <a:p>
            <a:fld id="{37B0CA02-6CF3-4D1C-8E89-51EC2BCE5B2D}" type="datetimeFigureOut">
              <a:rPr kumimoji="1" lang="ja-JP" altLang="en-US" smtClean="0"/>
              <a:t>2025/3/13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A73679D-6CCD-4E1E-8289-64185947636B}" type="slidenum">
              <a:rPr kumimoji="1" lang="ja-JP" altLang="en-US" smtClean="0"/>
              <a:t>‹#›</a:t>
            </a:fld>
            <a:endParaRPr kumimoji="1" lang="ja-JP" altLang="en-US"/>
          </a:p>
        </p:txBody>
      </p:sp>
    </p:spTree>
    <p:extLst>
      <p:ext uri="{BB962C8B-B14F-4D97-AF65-F5344CB8AC3E}">
        <p14:creationId xmlns:p14="http://schemas.microsoft.com/office/powerpoint/2010/main" val="627403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7B0CA02-6CF3-4D1C-8E89-51EC2BCE5B2D}" type="datetimeFigureOut">
              <a:rPr kumimoji="1" lang="ja-JP" altLang="en-US" smtClean="0"/>
              <a:t>2025/3/13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A73679D-6CCD-4E1E-8289-64185947636B}" type="slidenum">
              <a:rPr kumimoji="1" lang="ja-JP" altLang="en-US" smtClean="0"/>
              <a:t>‹#›</a:t>
            </a:fld>
            <a:endParaRPr kumimoji="1" lang="ja-JP" altLang="en-US"/>
          </a:p>
        </p:txBody>
      </p:sp>
    </p:spTree>
    <p:extLst>
      <p:ext uri="{BB962C8B-B14F-4D97-AF65-F5344CB8AC3E}">
        <p14:creationId xmlns:p14="http://schemas.microsoft.com/office/powerpoint/2010/main" val="3197587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37B0CA02-6CF3-4D1C-8E89-51EC2BCE5B2D}" type="datetimeFigureOut">
              <a:rPr kumimoji="1" lang="ja-JP" altLang="en-US" smtClean="0"/>
              <a:t>2025/3/13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CA73679D-6CCD-4E1E-8289-64185947636B}" type="slidenum">
              <a:rPr kumimoji="1" lang="ja-JP" altLang="en-US" smtClean="0"/>
              <a:t>‹#›</a:t>
            </a:fld>
            <a:endParaRPr kumimoji="1" lang="ja-JP" altLang="en-US"/>
          </a:p>
        </p:txBody>
      </p:sp>
    </p:spTree>
    <p:extLst>
      <p:ext uri="{BB962C8B-B14F-4D97-AF65-F5344CB8AC3E}">
        <p14:creationId xmlns:p14="http://schemas.microsoft.com/office/powerpoint/2010/main" val="533371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37B0CA02-6CF3-4D1C-8E89-51EC2BCE5B2D}" type="datetimeFigureOut">
              <a:rPr kumimoji="1" lang="ja-JP" altLang="en-US" smtClean="0"/>
              <a:t>2025/3/13</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CA73679D-6CCD-4E1E-8289-64185947636B}" type="slidenum">
              <a:rPr kumimoji="1" lang="ja-JP" altLang="en-US" smtClean="0"/>
              <a:t>‹#›</a:t>
            </a:fld>
            <a:endParaRPr kumimoji="1" lang="ja-JP" altLang="en-US"/>
          </a:p>
        </p:txBody>
      </p:sp>
    </p:spTree>
    <p:extLst>
      <p:ext uri="{BB962C8B-B14F-4D97-AF65-F5344CB8AC3E}">
        <p14:creationId xmlns:p14="http://schemas.microsoft.com/office/powerpoint/2010/main" val="2168256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7" name="Date Placeholder 2"/>
          <p:cNvSpPr>
            <a:spLocks noGrp="1"/>
          </p:cNvSpPr>
          <p:nvPr>
            <p:ph type="dt" sz="half" idx="10"/>
          </p:nvPr>
        </p:nvSpPr>
        <p:spPr/>
        <p:txBody>
          <a:bodyPr/>
          <a:lstStyle/>
          <a:p>
            <a:fld id="{37B0CA02-6CF3-4D1C-8E89-51EC2BCE5B2D}" type="datetimeFigureOut">
              <a:rPr kumimoji="1" lang="ja-JP" altLang="en-US" smtClean="0"/>
              <a:t>2025/3/13</a:t>
            </a:fld>
            <a:endParaRPr kumimoji="1" lang="ja-JP" altLang="en-US"/>
          </a:p>
        </p:txBody>
      </p:sp>
      <p:sp>
        <p:nvSpPr>
          <p:cNvPr id="5" name="Footer Placeholder 3"/>
          <p:cNvSpPr>
            <a:spLocks noGrp="1"/>
          </p:cNvSpPr>
          <p:nvPr>
            <p:ph type="ftr" sz="quarter" idx="11"/>
          </p:nvPr>
        </p:nvSpPr>
        <p:spPr/>
        <p:txBody>
          <a:bodyPr/>
          <a:lstStyle/>
          <a:p>
            <a:endParaRPr kumimoji="1" lang="ja-JP" altLang="en-US"/>
          </a:p>
        </p:txBody>
      </p:sp>
      <p:sp>
        <p:nvSpPr>
          <p:cNvPr id="6" name="Slide Number Placeholder 4"/>
          <p:cNvSpPr>
            <a:spLocks noGrp="1"/>
          </p:cNvSpPr>
          <p:nvPr>
            <p:ph type="sldNum" sz="quarter" idx="12"/>
          </p:nvPr>
        </p:nvSpPr>
        <p:spPr/>
        <p:txBody>
          <a:bodyPr/>
          <a:lstStyle/>
          <a:p>
            <a:fld id="{CA73679D-6CCD-4E1E-8289-64185947636B}" type="slidenum">
              <a:rPr kumimoji="1" lang="ja-JP" altLang="en-US" smtClean="0"/>
              <a:t>‹#›</a:t>
            </a:fld>
            <a:endParaRPr kumimoji="1" lang="ja-JP" altLang="en-US"/>
          </a:p>
        </p:txBody>
      </p:sp>
    </p:spTree>
    <p:extLst>
      <p:ext uri="{BB962C8B-B14F-4D97-AF65-F5344CB8AC3E}">
        <p14:creationId xmlns:p14="http://schemas.microsoft.com/office/powerpoint/2010/main" val="3050243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37B0CA02-6CF3-4D1C-8E89-51EC2BCE5B2D}" type="datetimeFigureOut">
              <a:rPr kumimoji="1" lang="ja-JP" altLang="en-US" smtClean="0"/>
              <a:t>2025/3/13</a:t>
            </a:fld>
            <a:endParaRPr kumimoji="1" lang="ja-JP" altLang="en-US"/>
          </a:p>
        </p:txBody>
      </p:sp>
      <p:sp>
        <p:nvSpPr>
          <p:cNvPr id="5" name="Footer Placeholder 2"/>
          <p:cNvSpPr>
            <a:spLocks noGrp="1"/>
          </p:cNvSpPr>
          <p:nvPr>
            <p:ph type="ftr" sz="quarter" idx="11"/>
          </p:nvPr>
        </p:nvSpPr>
        <p:spPr/>
        <p:txBody>
          <a:bodyPr/>
          <a:lstStyle/>
          <a:p>
            <a:endParaRPr kumimoji="1" lang="ja-JP" altLang="en-US"/>
          </a:p>
        </p:txBody>
      </p:sp>
      <p:sp>
        <p:nvSpPr>
          <p:cNvPr id="6" name="Slide Number Placeholder 3"/>
          <p:cNvSpPr>
            <a:spLocks noGrp="1"/>
          </p:cNvSpPr>
          <p:nvPr>
            <p:ph type="sldNum" sz="quarter" idx="12"/>
          </p:nvPr>
        </p:nvSpPr>
        <p:spPr/>
        <p:txBody>
          <a:bodyPr/>
          <a:lstStyle/>
          <a:p>
            <a:fld id="{CA73679D-6CCD-4E1E-8289-64185947636B}" type="slidenum">
              <a:rPr kumimoji="1" lang="ja-JP" altLang="en-US" smtClean="0"/>
              <a:t>‹#›</a:t>
            </a:fld>
            <a:endParaRPr kumimoji="1" lang="ja-JP" altLang="en-US"/>
          </a:p>
        </p:txBody>
      </p:sp>
    </p:spTree>
    <p:extLst>
      <p:ext uri="{BB962C8B-B14F-4D97-AF65-F5344CB8AC3E}">
        <p14:creationId xmlns:p14="http://schemas.microsoft.com/office/powerpoint/2010/main" val="1204255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ja-JP" altLang="en-US"/>
              <a:t>マスター タイトルの書式設定</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7" name="Date Placeholder 4"/>
          <p:cNvSpPr>
            <a:spLocks noGrp="1"/>
          </p:cNvSpPr>
          <p:nvPr>
            <p:ph type="dt" sz="half" idx="10"/>
          </p:nvPr>
        </p:nvSpPr>
        <p:spPr/>
        <p:txBody>
          <a:bodyPr/>
          <a:lstStyle/>
          <a:p>
            <a:fld id="{37B0CA02-6CF3-4D1C-8E89-51EC2BCE5B2D}" type="datetimeFigureOut">
              <a:rPr kumimoji="1" lang="ja-JP" altLang="en-US" smtClean="0"/>
              <a:t>2025/3/13</a:t>
            </a:fld>
            <a:endParaRPr kumimoji="1" lang="ja-JP" altLang="en-US"/>
          </a:p>
        </p:txBody>
      </p:sp>
      <p:sp>
        <p:nvSpPr>
          <p:cNvPr id="5" name="Footer Placeholder 5"/>
          <p:cNvSpPr>
            <a:spLocks noGrp="1"/>
          </p:cNvSpPr>
          <p:nvPr>
            <p:ph type="ftr" sz="quarter" idx="11"/>
          </p:nvPr>
        </p:nvSpPr>
        <p:spPr/>
        <p:txBody>
          <a:bodyPr/>
          <a:lstStyle/>
          <a:p>
            <a:endParaRPr kumimoji="1" lang="ja-JP" altLang="en-US"/>
          </a:p>
        </p:txBody>
      </p:sp>
      <p:sp>
        <p:nvSpPr>
          <p:cNvPr id="6" name="Slide Number Placeholder 6"/>
          <p:cNvSpPr>
            <a:spLocks noGrp="1"/>
          </p:cNvSpPr>
          <p:nvPr>
            <p:ph type="sldNum" sz="quarter" idx="12"/>
          </p:nvPr>
        </p:nvSpPr>
        <p:spPr/>
        <p:txBody>
          <a:bodyPr/>
          <a:lstStyle/>
          <a:p>
            <a:fld id="{CA73679D-6CCD-4E1E-8289-64185947636B}" type="slidenum">
              <a:rPr kumimoji="1" lang="ja-JP" altLang="en-US" smtClean="0"/>
              <a:t>‹#›</a:t>
            </a:fld>
            <a:endParaRPr kumimoji="1" lang="ja-JP" altLang="en-US"/>
          </a:p>
        </p:txBody>
      </p:sp>
    </p:spTree>
    <p:extLst>
      <p:ext uri="{BB962C8B-B14F-4D97-AF65-F5344CB8AC3E}">
        <p14:creationId xmlns:p14="http://schemas.microsoft.com/office/powerpoint/2010/main" val="2941810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7B0CA02-6CF3-4D1C-8E89-51EC2BCE5B2D}" type="datetimeFigureOut">
              <a:rPr kumimoji="1" lang="ja-JP" altLang="en-US" smtClean="0"/>
              <a:t>2025/3/13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CA73679D-6CCD-4E1E-8289-64185947636B}" type="slidenum">
              <a:rPr kumimoji="1" lang="ja-JP" altLang="en-US" smtClean="0"/>
              <a:t>‹#›</a:t>
            </a:fld>
            <a:endParaRPr kumimoji="1" lang="ja-JP" altLang="en-US"/>
          </a:p>
        </p:txBody>
      </p:sp>
    </p:spTree>
    <p:extLst>
      <p:ext uri="{BB962C8B-B14F-4D97-AF65-F5344CB8AC3E}">
        <p14:creationId xmlns:p14="http://schemas.microsoft.com/office/powerpoint/2010/main" val="3866217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7B0CA02-6CF3-4D1C-8E89-51EC2BCE5B2D}" type="datetimeFigureOut">
              <a:rPr kumimoji="1" lang="ja-JP" altLang="en-US" smtClean="0"/>
              <a:t>2025/3/13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CA73679D-6CCD-4E1E-8289-64185947636B}" type="slidenum">
              <a:rPr kumimoji="1" lang="ja-JP" altLang="en-US" smtClean="0"/>
              <a:t>‹#›</a:t>
            </a:fld>
            <a:endParaRPr kumimoji="1" lang="ja-JP" altLang="en-US"/>
          </a:p>
        </p:txBody>
      </p:sp>
    </p:spTree>
    <p:extLst>
      <p:ext uri="{BB962C8B-B14F-4D97-AF65-F5344CB8AC3E}">
        <p14:creationId xmlns:p14="http://schemas.microsoft.com/office/powerpoint/2010/main" val="1805210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ja-JP" altLang="en-US"/>
              <a:t>マスター タイトルの書式設定</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7B0CA02-6CF3-4D1C-8E89-51EC2BCE5B2D}" type="datetimeFigureOut">
              <a:rPr kumimoji="1" lang="ja-JP" altLang="en-US" smtClean="0"/>
              <a:t>2025/3/13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A73679D-6CCD-4E1E-8289-64185947636B}" type="slidenum">
              <a:rPr kumimoji="1" lang="ja-JP" altLang="en-US" smtClean="0"/>
              <a:t>‹#›</a:t>
            </a:fld>
            <a:endParaRPr kumimoji="1" lang="ja-JP" altLang="en-US"/>
          </a:p>
        </p:txBody>
      </p:sp>
    </p:spTree>
    <p:extLst>
      <p:ext uri="{BB962C8B-B14F-4D97-AF65-F5344CB8AC3E}">
        <p14:creationId xmlns:p14="http://schemas.microsoft.com/office/powerpoint/2010/main" val="14562721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ja-JP" altLang="en-US"/>
              <a:t>マスター タイトルの書式設定</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ja-JP" altLang="en-US"/>
              <a:t>マスター テキストの書式設定</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7B0CA02-6CF3-4D1C-8E89-51EC2BCE5B2D}" type="datetimeFigureOut">
              <a:rPr kumimoji="1" lang="ja-JP" altLang="en-US" smtClean="0"/>
              <a:t>2025/3/13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A73679D-6CCD-4E1E-8289-64185947636B}" type="slidenum">
              <a:rPr kumimoji="1" lang="ja-JP" altLang="en-US" smtClean="0"/>
              <a:t>‹#›</a:t>
            </a:fld>
            <a:endParaRPr kumimoji="1" lang="ja-JP" alt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3715571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7B0CA02-6CF3-4D1C-8E89-51EC2BCE5B2D}" type="datetimeFigureOut">
              <a:rPr kumimoji="1" lang="ja-JP" altLang="en-US" smtClean="0"/>
              <a:t>2025/3/13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A73679D-6CCD-4E1E-8289-64185947636B}" type="slidenum">
              <a:rPr kumimoji="1" lang="ja-JP" altLang="en-US" smtClean="0"/>
              <a:t>‹#›</a:t>
            </a:fld>
            <a:endParaRPr kumimoji="1" lang="ja-JP" altLang="en-US"/>
          </a:p>
        </p:txBody>
      </p:sp>
    </p:spTree>
    <p:extLst>
      <p:ext uri="{BB962C8B-B14F-4D97-AF65-F5344CB8AC3E}">
        <p14:creationId xmlns:p14="http://schemas.microsoft.com/office/powerpoint/2010/main" val="33197406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7B0CA02-6CF3-4D1C-8E89-51EC2BCE5B2D}" type="datetimeFigureOut">
              <a:rPr kumimoji="1" lang="ja-JP" altLang="en-US" smtClean="0"/>
              <a:t>2025/3/13</a:t>
            </a:fld>
            <a:endParaRPr kumimoji="1" lang="ja-JP" altLang="en-US"/>
          </a:p>
        </p:txBody>
      </p:sp>
      <p:sp>
        <p:nvSpPr>
          <p:cNvPr id="4"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A73679D-6CCD-4E1E-8289-64185947636B}" type="slidenum">
              <a:rPr kumimoji="1" lang="ja-JP" altLang="en-US" smtClean="0"/>
              <a:t>‹#›</a:t>
            </a:fld>
            <a:endParaRPr kumimoji="1" lang="ja-JP" altLang="en-US"/>
          </a:p>
        </p:txBody>
      </p:sp>
    </p:spTree>
    <p:extLst>
      <p:ext uri="{BB962C8B-B14F-4D97-AF65-F5344CB8AC3E}">
        <p14:creationId xmlns:p14="http://schemas.microsoft.com/office/powerpoint/2010/main" val="18324946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つの画像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7B0CA02-6CF3-4D1C-8E89-51EC2BCE5B2D}" type="datetimeFigureOut">
              <a:rPr kumimoji="1" lang="ja-JP" altLang="en-US" smtClean="0"/>
              <a:t>2025/3/13</a:t>
            </a:fld>
            <a:endParaRPr kumimoji="1" lang="ja-JP" altLang="en-US"/>
          </a:p>
        </p:txBody>
      </p:sp>
      <p:sp>
        <p:nvSpPr>
          <p:cNvPr id="4"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A73679D-6CCD-4E1E-8289-64185947636B}" type="slidenum">
              <a:rPr kumimoji="1" lang="ja-JP" altLang="en-US" smtClean="0"/>
              <a:t>‹#›</a:t>
            </a:fld>
            <a:endParaRPr kumimoji="1" lang="ja-JP" altLang="en-US"/>
          </a:p>
        </p:txBody>
      </p:sp>
    </p:spTree>
    <p:extLst>
      <p:ext uri="{BB962C8B-B14F-4D97-AF65-F5344CB8AC3E}">
        <p14:creationId xmlns:p14="http://schemas.microsoft.com/office/powerpoint/2010/main" val="35323802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nchor="t" anchorCtr="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37B0CA02-6CF3-4D1C-8E89-51EC2BCE5B2D}" type="datetimeFigureOut">
              <a:rPr kumimoji="1" lang="ja-JP" altLang="en-US" smtClean="0"/>
              <a:t>2025/3/13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A73679D-6CCD-4E1E-8289-64185947636B}" type="slidenum">
              <a:rPr kumimoji="1" lang="ja-JP" altLang="en-US" smtClean="0"/>
              <a:t>‹#›</a:t>
            </a:fld>
            <a:endParaRPr kumimoji="1" lang="ja-JP" altLang="en-US"/>
          </a:p>
        </p:txBody>
      </p:sp>
    </p:spTree>
    <p:extLst>
      <p:ext uri="{BB962C8B-B14F-4D97-AF65-F5344CB8AC3E}">
        <p14:creationId xmlns:p14="http://schemas.microsoft.com/office/powerpoint/2010/main" val="24368978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37B0CA02-6CF3-4D1C-8E89-51EC2BCE5B2D}" type="datetimeFigureOut">
              <a:rPr kumimoji="1" lang="ja-JP" altLang="en-US" smtClean="0"/>
              <a:t>2025/3/13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A73679D-6CCD-4E1E-8289-64185947636B}" type="slidenum">
              <a:rPr kumimoji="1" lang="ja-JP" altLang="en-US" smtClean="0"/>
              <a:t>‹#›</a:t>
            </a:fld>
            <a:endParaRPr kumimoji="1" lang="ja-JP" altLang="en-US"/>
          </a:p>
        </p:txBody>
      </p:sp>
    </p:spTree>
    <p:extLst>
      <p:ext uri="{BB962C8B-B14F-4D97-AF65-F5344CB8AC3E}">
        <p14:creationId xmlns:p14="http://schemas.microsoft.com/office/powerpoint/2010/main" val="2033067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37B0CA02-6CF3-4D1C-8E89-51EC2BCE5B2D}" type="datetimeFigureOut">
              <a:rPr kumimoji="1" lang="ja-JP" altLang="en-US" smtClean="0"/>
              <a:t>2025/3/13</a:t>
            </a:fld>
            <a:endParaRPr kumimoji="1" lang="ja-JP" alt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kumimoji="1" lang="ja-JP" alt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A73679D-6CCD-4E1E-8289-64185947636B}" type="slidenum">
              <a:rPr kumimoji="1" lang="ja-JP" altLang="en-US" smtClean="0"/>
              <a:t>‹#›</a:t>
            </a:fld>
            <a:endParaRPr kumimoji="1" lang="ja-JP" altLang="en-US"/>
          </a:p>
        </p:txBody>
      </p:sp>
    </p:spTree>
    <p:extLst>
      <p:ext uri="{BB962C8B-B14F-4D97-AF65-F5344CB8AC3E}">
        <p14:creationId xmlns:p14="http://schemas.microsoft.com/office/powerpoint/2010/main" val="374175195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kumimoji="1" sz="4200" b="0" i="0" kern="1200">
          <a:solidFill>
            <a:schemeClr val="tx2"/>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7.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5870DF-9AC3-4ABC-9E74-F4975935108D}"/>
              </a:ext>
            </a:extLst>
          </p:cNvPr>
          <p:cNvSpPr>
            <a:spLocks noGrp="1"/>
          </p:cNvSpPr>
          <p:nvPr>
            <p:ph type="ctrTitle"/>
          </p:nvPr>
        </p:nvSpPr>
        <p:spPr>
          <a:xfrm>
            <a:off x="1393371" y="440029"/>
            <a:ext cx="9144000" cy="990836"/>
          </a:xfrm>
        </p:spPr>
        <p:txBody>
          <a:bodyPr/>
          <a:lstStyle/>
          <a:p>
            <a:pPr algn="l"/>
            <a:r>
              <a:rPr lang="ja-JP" altLang="en-US" dirty="0"/>
              <a:t>石を置くヒト</a:t>
            </a:r>
            <a:endParaRPr kumimoji="1" lang="ja-JP" altLang="en-US" dirty="0"/>
          </a:p>
        </p:txBody>
      </p:sp>
      <p:sp>
        <p:nvSpPr>
          <p:cNvPr id="3" name="字幕 2">
            <a:extLst>
              <a:ext uri="{FF2B5EF4-FFF2-40B4-BE49-F238E27FC236}">
                <a16:creationId xmlns:a16="http://schemas.microsoft.com/office/drawing/2014/main" id="{8A2D2637-938B-4EC9-9F63-54C03A1D257B}"/>
              </a:ext>
            </a:extLst>
          </p:cNvPr>
          <p:cNvSpPr>
            <a:spLocks noGrp="1"/>
          </p:cNvSpPr>
          <p:nvPr>
            <p:ph type="subTitle" idx="1"/>
          </p:nvPr>
        </p:nvSpPr>
        <p:spPr>
          <a:xfrm>
            <a:off x="1524000" y="1413095"/>
            <a:ext cx="9144000" cy="1332146"/>
          </a:xfrm>
        </p:spPr>
        <p:txBody>
          <a:bodyPr>
            <a:normAutofit fontScale="77500" lnSpcReduction="20000"/>
          </a:bodyPr>
          <a:lstStyle/>
          <a:p>
            <a:r>
              <a:rPr kumimoji="1" lang="ja-JP" altLang="en-US" sz="3200" dirty="0">
                <a:solidFill>
                  <a:schemeClr val="tx1"/>
                </a:solidFill>
              </a:rPr>
              <a:t>コンセプト</a:t>
            </a:r>
            <a:r>
              <a:rPr kumimoji="1" lang="en-US" altLang="ja-JP" sz="3200" dirty="0">
                <a:solidFill>
                  <a:schemeClr val="tx1"/>
                </a:solidFill>
              </a:rPr>
              <a:t>:</a:t>
            </a:r>
          </a:p>
          <a:p>
            <a:r>
              <a:rPr lang="ja-JP" altLang="en-US" sz="3200" dirty="0">
                <a:solidFill>
                  <a:schemeClr val="tx1"/>
                </a:solidFill>
              </a:rPr>
              <a:t>障害物を置いて敵の進行を妨害し、拠点を守る</a:t>
            </a:r>
            <a:endParaRPr lang="en-US" altLang="ja-JP" sz="3200" dirty="0">
              <a:solidFill>
                <a:schemeClr val="tx1"/>
              </a:solidFill>
            </a:endParaRPr>
          </a:p>
          <a:p>
            <a:r>
              <a:rPr lang="en-US" altLang="ja-JP" sz="3200" dirty="0">
                <a:solidFill>
                  <a:schemeClr val="tx1"/>
                </a:solidFill>
              </a:rPr>
              <a:t>3</a:t>
            </a:r>
            <a:r>
              <a:rPr lang="ja-JP" altLang="en-US" sz="3200" dirty="0">
                <a:solidFill>
                  <a:schemeClr val="tx1"/>
                </a:solidFill>
              </a:rPr>
              <a:t>ｄタワーディフェンスゲーム</a:t>
            </a:r>
            <a:endParaRPr lang="en-US" altLang="ja-JP" sz="3200" dirty="0">
              <a:solidFill>
                <a:schemeClr val="tx1"/>
              </a:solidFill>
            </a:endParaRPr>
          </a:p>
          <a:p>
            <a:endParaRPr kumimoji="1" lang="en-US" altLang="ja-JP" sz="3200" dirty="0">
              <a:solidFill>
                <a:schemeClr val="tx1"/>
              </a:solidFill>
            </a:endParaRPr>
          </a:p>
          <a:p>
            <a:endParaRPr kumimoji="1" lang="ja-JP" altLang="en-US" sz="3200" dirty="0">
              <a:solidFill>
                <a:schemeClr val="tx1"/>
              </a:solidFill>
            </a:endParaRPr>
          </a:p>
        </p:txBody>
      </p:sp>
      <p:pic>
        <p:nvPicPr>
          <p:cNvPr id="8" name="図 7">
            <a:extLst>
              <a:ext uri="{FF2B5EF4-FFF2-40B4-BE49-F238E27FC236}">
                <a16:creationId xmlns:a16="http://schemas.microsoft.com/office/drawing/2014/main" id="{FED728E8-495E-45B2-8AC5-2E2ADBCFBE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28968" y="56341"/>
            <a:ext cx="2124635" cy="2124635"/>
          </a:xfrm>
          <a:prstGeom prst="rect">
            <a:avLst/>
          </a:prstGeom>
        </p:spPr>
      </p:pic>
      <p:pic>
        <p:nvPicPr>
          <p:cNvPr id="10" name="図 9">
            <a:extLst>
              <a:ext uri="{FF2B5EF4-FFF2-40B4-BE49-F238E27FC236}">
                <a16:creationId xmlns:a16="http://schemas.microsoft.com/office/drawing/2014/main" id="{83D7E3AB-CBC6-45AA-9669-F2D5BDD14C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 y="2951349"/>
            <a:ext cx="3021798" cy="2136178"/>
          </a:xfrm>
          <a:prstGeom prst="rect">
            <a:avLst/>
          </a:prstGeom>
        </p:spPr>
      </p:pic>
      <p:pic>
        <p:nvPicPr>
          <p:cNvPr id="12" name="図 11">
            <a:extLst>
              <a:ext uri="{FF2B5EF4-FFF2-40B4-BE49-F238E27FC236}">
                <a16:creationId xmlns:a16="http://schemas.microsoft.com/office/drawing/2014/main" id="{142A7404-C93D-4BFC-B186-094E333E0E9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18846" y="2745241"/>
            <a:ext cx="6436658" cy="3604529"/>
          </a:xfrm>
          <a:prstGeom prst="rect">
            <a:avLst/>
          </a:prstGeom>
        </p:spPr>
      </p:pic>
    </p:spTree>
    <p:extLst>
      <p:ext uri="{BB962C8B-B14F-4D97-AF65-F5344CB8AC3E}">
        <p14:creationId xmlns:p14="http://schemas.microsoft.com/office/powerpoint/2010/main" val="1505883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968A37-EFB0-4454-8E5D-A3A1BD6D96D4}"/>
              </a:ext>
            </a:extLst>
          </p:cNvPr>
          <p:cNvSpPr>
            <a:spLocks noGrp="1"/>
          </p:cNvSpPr>
          <p:nvPr>
            <p:ph type="title"/>
          </p:nvPr>
        </p:nvSpPr>
        <p:spPr>
          <a:xfrm>
            <a:off x="1089077" y="309047"/>
            <a:ext cx="9404723" cy="1400530"/>
          </a:xfrm>
        </p:spPr>
        <p:txBody>
          <a:bodyPr/>
          <a:lstStyle/>
          <a:p>
            <a:r>
              <a:rPr kumimoji="1" lang="ja-JP" altLang="en-US" b="1" dirty="0"/>
              <a:t>制作背景・概要</a:t>
            </a:r>
          </a:p>
        </p:txBody>
      </p:sp>
      <p:sp>
        <p:nvSpPr>
          <p:cNvPr id="3" name="コンテンツ プレースホルダー 2">
            <a:extLst>
              <a:ext uri="{FF2B5EF4-FFF2-40B4-BE49-F238E27FC236}">
                <a16:creationId xmlns:a16="http://schemas.microsoft.com/office/drawing/2014/main" id="{AC346FF2-C75D-4961-968E-A5D30BFE68A5}"/>
              </a:ext>
            </a:extLst>
          </p:cNvPr>
          <p:cNvSpPr>
            <a:spLocks noGrp="1"/>
          </p:cNvSpPr>
          <p:nvPr>
            <p:ph idx="1"/>
          </p:nvPr>
        </p:nvSpPr>
        <p:spPr>
          <a:xfrm>
            <a:off x="1089077" y="1597605"/>
            <a:ext cx="8946541" cy="4195481"/>
          </a:xfrm>
        </p:spPr>
        <p:txBody>
          <a:bodyPr/>
          <a:lstStyle/>
          <a:p>
            <a:pPr marL="0" indent="0">
              <a:buNone/>
            </a:pPr>
            <a:r>
              <a:rPr lang="ja-JP" altLang="en-US" sz="2400" b="1" dirty="0"/>
              <a:t>背景</a:t>
            </a:r>
            <a:endParaRPr lang="en-US" altLang="ja-JP" sz="2400" b="1" dirty="0"/>
          </a:p>
          <a:p>
            <a:pPr marL="0" indent="0">
              <a:buNone/>
            </a:pPr>
            <a:r>
              <a:rPr lang="ja-JP" altLang="en-US" b="1" dirty="0"/>
              <a:t>①去年の反省</a:t>
            </a:r>
            <a:endParaRPr lang="en-US" altLang="ja-JP" b="1" dirty="0"/>
          </a:p>
          <a:p>
            <a:pPr marL="0" indent="0">
              <a:buNone/>
            </a:pPr>
            <a:r>
              <a:rPr lang="ja-JP" altLang="en-US" dirty="0"/>
              <a:t>→操作が複雑でわかりにくい</a:t>
            </a:r>
            <a:endParaRPr lang="en-US" altLang="ja-JP" dirty="0"/>
          </a:p>
          <a:p>
            <a:pPr marL="0" indent="0">
              <a:buNone/>
            </a:pPr>
            <a:r>
              <a:rPr lang="ja-JP" altLang="en-US" b="1" dirty="0"/>
              <a:t>②タワーディフェンスゲームを作りたい！</a:t>
            </a:r>
            <a:endParaRPr lang="en-US" altLang="ja-JP" b="1" dirty="0"/>
          </a:p>
          <a:p>
            <a:pPr marL="0" indent="0">
              <a:buNone/>
            </a:pPr>
            <a:r>
              <a:rPr lang="ja-JP" altLang="en-US" dirty="0"/>
              <a:t>→アークナイツが大好き！</a:t>
            </a:r>
            <a:endParaRPr lang="en-US" altLang="ja-JP" dirty="0"/>
          </a:p>
          <a:p>
            <a:pPr marL="0" indent="0">
              <a:buNone/>
            </a:pPr>
            <a:endParaRPr lang="en-US" altLang="ja-JP" dirty="0"/>
          </a:p>
          <a:p>
            <a:pPr marL="0" indent="0">
              <a:buNone/>
            </a:pPr>
            <a:r>
              <a:rPr lang="ja-JP" altLang="en-US" sz="2400" b="1" dirty="0"/>
              <a:t>概要</a:t>
            </a:r>
            <a:endParaRPr lang="en-US" altLang="ja-JP" sz="2400" b="1" dirty="0"/>
          </a:p>
          <a:p>
            <a:pPr marL="0" indent="0">
              <a:buNone/>
            </a:pPr>
            <a:r>
              <a:rPr lang="ja-JP" altLang="en-US" dirty="0"/>
              <a:t>制限時間が終わるまで、自分の拠点を防衛する</a:t>
            </a:r>
            <a:endParaRPr lang="en-US" altLang="ja-JP" dirty="0"/>
          </a:p>
          <a:p>
            <a:pPr marL="0" indent="0">
              <a:buNone/>
            </a:pPr>
            <a:r>
              <a:rPr lang="ja-JP" altLang="en-US" dirty="0"/>
              <a:t>直接的な攻撃手段を持たず、直感的かつ戦略性のあるゲーム</a:t>
            </a:r>
            <a:endParaRPr lang="en-US" altLang="ja-JP" dirty="0"/>
          </a:p>
          <a:p>
            <a:pPr marL="0" indent="0">
              <a:buNone/>
            </a:pPr>
            <a:endParaRPr kumimoji="1" lang="ja-JP" altLang="en-US" dirty="0"/>
          </a:p>
        </p:txBody>
      </p:sp>
    </p:spTree>
    <p:extLst>
      <p:ext uri="{BB962C8B-B14F-4D97-AF65-F5344CB8AC3E}">
        <p14:creationId xmlns:p14="http://schemas.microsoft.com/office/powerpoint/2010/main" val="3335422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17BF44-A9C1-4E16-B3D9-EE4956CE1668}"/>
              </a:ext>
            </a:extLst>
          </p:cNvPr>
          <p:cNvSpPr>
            <a:spLocks noGrp="1"/>
          </p:cNvSpPr>
          <p:nvPr>
            <p:ph type="title"/>
          </p:nvPr>
        </p:nvSpPr>
        <p:spPr>
          <a:xfrm>
            <a:off x="1075174" y="323458"/>
            <a:ext cx="9404723" cy="1400530"/>
          </a:xfrm>
        </p:spPr>
        <p:txBody>
          <a:bodyPr/>
          <a:lstStyle/>
          <a:p>
            <a:r>
              <a:rPr lang="ja-JP" altLang="en-US" b="1" dirty="0"/>
              <a:t>頑張ったところ</a:t>
            </a:r>
            <a:endParaRPr kumimoji="1" lang="ja-JP" altLang="en-US" b="1" dirty="0"/>
          </a:p>
        </p:txBody>
      </p:sp>
      <p:sp>
        <p:nvSpPr>
          <p:cNvPr id="3" name="コンテンツ プレースホルダー 2">
            <a:extLst>
              <a:ext uri="{FF2B5EF4-FFF2-40B4-BE49-F238E27FC236}">
                <a16:creationId xmlns:a16="http://schemas.microsoft.com/office/drawing/2014/main" id="{A2BFCE1E-823B-4EB2-90FF-4DA8618C2903}"/>
              </a:ext>
            </a:extLst>
          </p:cNvPr>
          <p:cNvSpPr>
            <a:spLocks noGrp="1"/>
          </p:cNvSpPr>
          <p:nvPr>
            <p:ph idx="1"/>
          </p:nvPr>
        </p:nvSpPr>
        <p:spPr>
          <a:xfrm>
            <a:off x="1075174" y="1514166"/>
            <a:ext cx="8946541" cy="4195481"/>
          </a:xfrm>
        </p:spPr>
        <p:txBody>
          <a:bodyPr/>
          <a:lstStyle/>
          <a:p>
            <a:pPr marL="0" indent="0">
              <a:buNone/>
            </a:pPr>
            <a:r>
              <a:rPr kumimoji="1" lang="ja-JP" altLang="en-US" b="1" dirty="0"/>
              <a:t>①経路探索のメソッド</a:t>
            </a:r>
            <a:endParaRPr kumimoji="1" lang="en-US" altLang="ja-JP" b="1" dirty="0"/>
          </a:p>
          <a:p>
            <a:pPr marL="0" indent="0">
              <a:buNone/>
            </a:pPr>
            <a:r>
              <a:rPr kumimoji="1" lang="en-US" altLang="ja-JP" dirty="0"/>
              <a:t>A</a:t>
            </a:r>
            <a:r>
              <a:rPr kumimoji="1" lang="ja-JP" altLang="en-US" dirty="0"/>
              <a:t>スター法を採用</a:t>
            </a:r>
            <a:endParaRPr kumimoji="1" lang="en-US" altLang="ja-JP" dirty="0"/>
          </a:p>
          <a:p>
            <a:pPr marL="0" indent="0">
              <a:buNone/>
            </a:pPr>
            <a:r>
              <a:rPr kumimoji="1" lang="ja-JP" altLang="en-US" dirty="0"/>
              <a:t>→ダイクストラ法に加え、</a:t>
            </a:r>
            <a:endParaRPr kumimoji="1" lang="en-US" altLang="ja-JP" dirty="0"/>
          </a:p>
          <a:p>
            <a:pPr marL="0" indent="0">
              <a:buNone/>
            </a:pPr>
            <a:r>
              <a:rPr kumimoji="1" lang="ja-JP" altLang="en-US" dirty="0"/>
              <a:t>推量値を加えて探索を効率化</a:t>
            </a:r>
            <a:endParaRPr kumimoji="1" lang="en-US" altLang="ja-JP" dirty="0"/>
          </a:p>
          <a:p>
            <a:pPr marL="0" indent="0">
              <a:buNone/>
            </a:pPr>
            <a:endParaRPr lang="en-US" altLang="ja-JP" dirty="0"/>
          </a:p>
          <a:p>
            <a:pPr marL="0" indent="0">
              <a:buNone/>
            </a:pPr>
            <a:r>
              <a:rPr kumimoji="1" lang="ja-JP" altLang="en-US" b="1" dirty="0"/>
              <a:t>②クラス設計図の作成</a:t>
            </a:r>
            <a:endParaRPr kumimoji="1" lang="en-US" altLang="ja-JP" b="1" dirty="0"/>
          </a:p>
          <a:p>
            <a:pPr marL="0" indent="0">
              <a:buNone/>
            </a:pPr>
            <a:r>
              <a:rPr lang="ja-JP" altLang="en-US" dirty="0"/>
              <a:t>→</a:t>
            </a:r>
            <a:r>
              <a:rPr lang="en-US" altLang="ja-JP" dirty="0" err="1"/>
              <a:t>drawio</a:t>
            </a:r>
            <a:r>
              <a:rPr lang="ja-JP" altLang="en-US" dirty="0"/>
              <a:t>を使って</a:t>
            </a:r>
            <a:r>
              <a:rPr lang="en-US" altLang="ja-JP" dirty="0"/>
              <a:t>UML</a:t>
            </a:r>
            <a:r>
              <a:rPr lang="ja-JP" altLang="en-US" dirty="0"/>
              <a:t>クラス設計図を作り</a:t>
            </a:r>
            <a:endParaRPr lang="en-US" altLang="ja-JP" dirty="0"/>
          </a:p>
          <a:p>
            <a:pPr marL="0" indent="0">
              <a:buNone/>
            </a:pPr>
            <a:r>
              <a:rPr kumimoji="1" lang="ja-JP" altLang="en-US" dirty="0"/>
              <a:t>カプセル化や、依存関係を整理</a:t>
            </a:r>
            <a:endParaRPr kumimoji="1" lang="en-US" altLang="ja-JP" dirty="0"/>
          </a:p>
          <a:p>
            <a:pPr marL="0" indent="0">
              <a:buNone/>
            </a:pPr>
            <a:endParaRPr kumimoji="1" lang="ja-JP" altLang="en-US" dirty="0"/>
          </a:p>
        </p:txBody>
      </p:sp>
      <p:pic>
        <p:nvPicPr>
          <p:cNvPr id="8" name="図 7">
            <a:extLst>
              <a:ext uri="{FF2B5EF4-FFF2-40B4-BE49-F238E27FC236}">
                <a16:creationId xmlns:a16="http://schemas.microsoft.com/office/drawing/2014/main" id="{330A1870-3116-45AB-84E9-CBCBC4CEE1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05182" y="1272424"/>
            <a:ext cx="4991707" cy="3284544"/>
          </a:xfrm>
          <a:prstGeom prst="rect">
            <a:avLst/>
          </a:prstGeom>
        </p:spPr>
      </p:pic>
      <p:sp>
        <p:nvSpPr>
          <p:cNvPr id="9" name="テキスト ボックス 8">
            <a:extLst>
              <a:ext uri="{FF2B5EF4-FFF2-40B4-BE49-F238E27FC236}">
                <a16:creationId xmlns:a16="http://schemas.microsoft.com/office/drawing/2014/main" id="{68C47E79-604A-4C51-9924-A410D49B72B0}"/>
              </a:ext>
            </a:extLst>
          </p:cNvPr>
          <p:cNvSpPr txBox="1"/>
          <p:nvPr/>
        </p:nvSpPr>
        <p:spPr>
          <a:xfrm>
            <a:off x="6125119" y="4693210"/>
            <a:ext cx="4991707" cy="446276"/>
          </a:xfrm>
          <a:prstGeom prst="rect">
            <a:avLst/>
          </a:prstGeom>
          <a:noFill/>
        </p:spPr>
        <p:txBody>
          <a:bodyPr wrap="square" rtlCol="0">
            <a:spAutoFit/>
          </a:bodyPr>
          <a:lstStyle/>
          <a:p>
            <a:r>
              <a:rPr kumimoji="1" lang="ja-JP" altLang="en-US" sz="1200" dirty="0"/>
              <a:t>引用元</a:t>
            </a:r>
            <a:r>
              <a:rPr kumimoji="1" lang="en-US" altLang="ja-JP" sz="1200" dirty="0"/>
              <a:t>:</a:t>
            </a:r>
          </a:p>
          <a:p>
            <a:r>
              <a:rPr kumimoji="1" lang="en-US" altLang="ja-JP" sz="1100" dirty="0"/>
              <a:t>http://www.thothchildren.com/chapter/5b6aeaca2787593b86358af9</a:t>
            </a:r>
            <a:endParaRPr kumimoji="1" lang="ja-JP" altLang="en-US" sz="1100" dirty="0"/>
          </a:p>
        </p:txBody>
      </p:sp>
    </p:spTree>
    <p:extLst>
      <p:ext uri="{BB962C8B-B14F-4D97-AF65-F5344CB8AC3E}">
        <p14:creationId xmlns:p14="http://schemas.microsoft.com/office/powerpoint/2010/main" val="9703237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53696E-7CB8-401A-A742-73FAB827F205}"/>
              </a:ext>
            </a:extLst>
          </p:cNvPr>
          <p:cNvSpPr>
            <a:spLocks noGrp="1"/>
          </p:cNvSpPr>
          <p:nvPr>
            <p:ph type="title"/>
          </p:nvPr>
        </p:nvSpPr>
        <p:spPr>
          <a:xfrm>
            <a:off x="1104293" y="362758"/>
            <a:ext cx="9404723" cy="1400530"/>
          </a:xfrm>
        </p:spPr>
        <p:txBody>
          <a:bodyPr/>
          <a:lstStyle/>
          <a:p>
            <a:r>
              <a:rPr lang="ja-JP" altLang="en-US" b="1" dirty="0"/>
              <a:t>今後の展開について</a:t>
            </a:r>
            <a:endParaRPr kumimoji="1" lang="ja-JP" altLang="en-US" b="1" dirty="0"/>
          </a:p>
        </p:txBody>
      </p:sp>
      <p:sp>
        <p:nvSpPr>
          <p:cNvPr id="3" name="コンテンツ プレースホルダー 2">
            <a:extLst>
              <a:ext uri="{FF2B5EF4-FFF2-40B4-BE49-F238E27FC236}">
                <a16:creationId xmlns:a16="http://schemas.microsoft.com/office/drawing/2014/main" id="{CE1B833F-A979-4465-94A2-E55AE0DC66F7}"/>
              </a:ext>
            </a:extLst>
          </p:cNvPr>
          <p:cNvSpPr>
            <a:spLocks noGrp="1"/>
          </p:cNvSpPr>
          <p:nvPr>
            <p:ph idx="1"/>
          </p:nvPr>
        </p:nvSpPr>
        <p:spPr>
          <a:xfrm>
            <a:off x="1104293" y="1763288"/>
            <a:ext cx="8946541" cy="2768519"/>
          </a:xfrm>
        </p:spPr>
        <p:txBody>
          <a:bodyPr/>
          <a:lstStyle/>
          <a:p>
            <a:pPr marL="0" indent="0">
              <a:buNone/>
            </a:pPr>
            <a:r>
              <a:rPr kumimoji="1" lang="ja-JP" altLang="en-US" b="1" dirty="0"/>
              <a:t>①敵の攻撃処理の変更</a:t>
            </a:r>
            <a:endParaRPr kumimoji="1" lang="en-US" altLang="ja-JP" b="1" dirty="0"/>
          </a:p>
          <a:p>
            <a:pPr marL="0" indent="0">
              <a:buNone/>
            </a:pPr>
            <a:r>
              <a:rPr lang="ja-JP" altLang="en-US" dirty="0"/>
              <a:t>→破壊する仕様からダメージを与える仕様</a:t>
            </a:r>
            <a:endParaRPr lang="en-US" altLang="ja-JP" dirty="0"/>
          </a:p>
          <a:p>
            <a:pPr marL="0" indent="0">
              <a:buNone/>
            </a:pPr>
            <a:endParaRPr kumimoji="1" lang="en-US" altLang="ja-JP" dirty="0"/>
          </a:p>
          <a:p>
            <a:pPr marL="0" indent="0">
              <a:buNone/>
            </a:pPr>
            <a:r>
              <a:rPr lang="ja-JP" altLang="en-US" b="1" dirty="0"/>
              <a:t>②経路探索の最適化</a:t>
            </a:r>
            <a:endParaRPr lang="en-US" altLang="ja-JP" b="1" dirty="0"/>
          </a:p>
          <a:p>
            <a:pPr marL="0" indent="0">
              <a:buNone/>
            </a:pPr>
            <a:r>
              <a:rPr kumimoji="1" lang="ja-JP" altLang="en-US" dirty="0"/>
              <a:t>→ノードマップを管理し、変更が入った部分のみ再計算を行う方式</a:t>
            </a:r>
            <a:endParaRPr kumimoji="1" lang="en-US" altLang="ja-JP" dirty="0"/>
          </a:p>
          <a:p>
            <a:pPr marL="0" indent="0">
              <a:buNone/>
            </a:pPr>
            <a:endParaRPr kumimoji="1" lang="ja-JP" altLang="en-US" dirty="0"/>
          </a:p>
        </p:txBody>
      </p:sp>
    </p:spTree>
    <p:extLst>
      <p:ext uri="{BB962C8B-B14F-4D97-AF65-F5344CB8AC3E}">
        <p14:creationId xmlns:p14="http://schemas.microsoft.com/office/powerpoint/2010/main" val="196047421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イオン">
  <a:themeElements>
    <a:clrScheme name="イオン">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イオン">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イオン">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124</TotalTime>
  <Words>661</Words>
  <Application>Microsoft Office PowerPoint</Application>
  <PresentationFormat>ワイド画面</PresentationFormat>
  <Paragraphs>71</Paragraphs>
  <Slides>4</Slides>
  <Notes>4</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4</vt:i4>
      </vt:variant>
    </vt:vector>
  </HeadingPairs>
  <TitlesOfParts>
    <vt:vector size="9" baseType="lpstr">
      <vt:lpstr>游ゴシック</vt:lpstr>
      <vt:lpstr>Arial</vt:lpstr>
      <vt:lpstr>Century Gothic</vt:lpstr>
      <vt:lpstr>Wingdings 3</vt:lpstr>
      <vt:lpstr>イオン</vt:lpstr>
      <vt:lpstr>石を置くヒト</vt:lpstr>
      <vt:lpstr>制作背景・概要</vt:lpstr>
      <vt:lpstr>頑張ったところ</vt:lpstr>
      <vt:lpstr>今後の展開について</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鈴木　宏明</dc:creator>
  <cp:lastModifiedBy>鈴木　宏明</cp:lastModifiedBy>
  <cp:revision>14</cp:revision>
  <dcterms:created xsi:type="dcterms:W3CDTF">2025-03-13T00:32:45Z</dcterms:created>
  <dcterms:modified xsi:type="dcterms:W3CDTF">2025-03-13T02:39:15Z</dcterms:modified>
</cp:coreProperties>
</file>